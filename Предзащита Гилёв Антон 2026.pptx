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09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43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24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40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37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35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390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314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757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466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112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A9EE205-025E-4C1D-9B0F-D96D36EBADF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AFE7773-2627-429D-A49A-EDC58A156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858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E88CB-45D9-058E-428B-25DB34CDB8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Разработка информационной системы «Прокат скутеров»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BD6DF4-40EA-039F-C1CC-06B17FFCA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Гилёв Антон 22ИСИП2 2026 год</a:t>
            </a:r>
          </a:p>
        </p:txBody>
      </p:sp>
    </p:spTree>
    <p:extLst>
      <p:ext uri="{BB962C8B-B14F-4D97-AF65-F5344CB8AC3E}">
        <p14:creationId xmlns:p14="http://schemas.microsoft.com/office/powerpoint/2010/main" val="89701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7FC0D-8A2B-2294-2B50-03EECF4B1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ru-RU" b="1" dirty="0"/>
              <a:t>Рынок </a:t>
            </a:r>
            <a:r>
              <a:rPr lang="ru-RU" b="1" dirty="0" err="1"/>
              <a:t>микромобильности</a:t>
            </a:r>
            <a:r>
              <a:rPr lang="ru-RU" b="1" dirty="0"/>
              <a:t> в РФ растёт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32F98-F080-87E6-24E7-6E6BD317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73352"/>
            <a:ext cx="7729728" cy="1188721"/>
          </a:xfrm>
        </p:spPr>
        <p:txBody>
          <a:bodyPr/>
          <a:lstStyle/>
          <a:p>
            <a:r>
              <a:rPr lang="ru-RU" dirty="0"/>
              <a:t>2023 г. – &gt;150 млн поездок, выручка ~20 млрд руб.</a:t>
            </a:r>
          </a:p>
          <a:p>
            <a:r>
              <a:rPr lang="ru-RU" dirty="0"/>
              <a:t>Прогноз 2027 г. – до 400 млн поездок в год.</a:t>
            </a:r>
          </a:p>
          <a:p>
            <a:r>
              <a:rPr lang="ru-RU" dirty="0"/>
              <a:t>Сервис переходит из развлечения в ежедневный транспорт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538860E-2B5D-9318-821A-6BAF02D8BB60}"/>
              </a:ext>
            </a:extLst>
          </p:cNvPr>
          <p:cNvSpPr txBox="1">
            <a:spLocks/>
          </p:cNvSpPr>
          <p:nvPr/>
        </p:nvSpPr>
        <p:spPr bwMode="black">
          <a:xfrm>
            <a:off x="4462272" y="3529585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Типовые проблемы малого проката при использовании Excel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0646D71-2D0E-D2AD-582C-40149079771D}"/>
              </a:ext>
            </a:extLst>
          </p:cNvPr>
          <p:cNvSpPr txBox="1">
            <a:spLocks/>
          </p:cNvSpPr>
          <p:nvPr/>
        </p:nvSpPr>
        <p:spPr>
          <a:xfrm>
            <a:off x="4379976" y="4965192"/>
            <a:ext cx="7729728" cy="1188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Ошибки ручного ввода (паспортные данные, расчёт стоимости).</a:t>
            </a:r>
          </a:p>
          <a:p>
            <a:r>
              <a:rPr lang="ru-RU" dirty="0"/>
              <a:t>Двойное бронирование и простой техники.</a:t>
            </a:r>
          </a:p>
          <a:p>
            <a:r>
              <a:rPr lang="ru-RU" dirty="0"/>
              <a:t>Трудоёмкость формирования отчётности и анализа рентабельности.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5574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1FDA5-EB13-783C-9334-50E65FD9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24612"/>
            <a:ext cx="7729728" cy="1188720"/>
          </a:xfrm>
        </p:spPr>
        <p:txBody>
          <a:bodyPr/>
          <a:lstStyle/>
          <a:p>
            <a:r>
              <a:rPr lang="ru-RU" b="1" dirty="0"/>
              <a:t>Цель и задачи исследования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95BFA1-7D08-49B8-5EAC-04FEAAD8A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7360"/>
            <a:ext cx="7729728" cy="4002667"/>
          </a:xfrm>
        </p:spPr>
        <p:txBody>
          <a:bodyPr>
            <a:normAutofit/>
          </a:bodyPr>
          <a:lstStyle/>
          <a:p>
            <a:r>
              <a:rPr lang="ru-RU" dirty="0"/>
              <a:t>Разработать работоспособный прототип ИС на платформе 1С:Предприятие 8 для комплексной автоматизации учёта и управления процессами проката скутеров.</a:t>
            </a:r>
          </a:p>
          <a:p>
            <a:pPr lvl="1"/>
            <a:r>
              <a:rPr lang="ru-RU" dirty="0"/>
              <a:t>Сформулировать функциональные и технические требования.</a:t>
            </a:r>
          </a:p>
          <a:p>
            <a:pPr lvl="1"/>
            <a:r>
              <a:rPr lang="ru-RU" dirty="0"/>
              <a:t>Спроектировать логическую структуру базы данных (метаданные).</a:t>
            </a:r>
          </a:p>
          <a:p>
            <a:pPr lvl="1"/>
            <a:r>
              <a:rPr lang="ru-RU" dirty="0"/>
              <a:t>Реализовать ключевые объекты: справочники, документы, регистры.</a:t>
            </a:r>
          </a:p>
          <a:p>
            <a:pPr lvl="1"/>
            <a:r>
              <a:rPr lang="ru-RU" dirty="0"/>
              <a:t>Разработать пользовательские интерфейсы и отчёты.</a:t>
            </a:r>
          </a:p>
          <a:p>
            <a:pPr lvl="1"/>
            <a:r>
              <a:rPr lang="ru-RU" dirty="0"/>
              <a:t>Провести функциональное тестирование системы.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437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3E32A-901A-4C85-3E74-6FE7BE36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>
            <a:normAutofit/>
          </a:bodyPr>
          <a:lstStyle/>
          <a:p>
            <a:r>
              <a:rPr lang="ru-RU" b="1" dirty="0"/>
              <a:t>Анализ бизнес-процессов проката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1A9CAB-92D1-8A24-384C-C008BC110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1872"/>
            <a:ext cx="7729728" cy="2066545"/>
          </a:xfrm>
        </p:spPr>
        <p:txBody>
          <a:bodyPr/>
          <a:lstStyle/>
          <a:p>
            <a:r>
              <a:rPr lang="ru-RU" dirty="0"/>
              <a:t>Приём и обработка заказа (проверка доступности скутера).</a:t>
            </a:r>
          </a:p>
          <a:p>
            <a:r>
              <a:rPr lang="ru-RU" dirty="0"/>
              <a:t>Оформление договора (идентификация клиента, фиксация условий).</a:t>
            </a:r>
          </a:p>
          <a:p>
            <a:r>
              <a:rPr lang="ru-RU" dirty="0"/>
              <a:t>Выдача техники (осмотр, инструктаж, фотофиксация).</a:t>
            </a:r>
          </a:p>
          <a:p>
            <a:r>
              <a:rPr lang="ru-RU" dirty="0"/>
              <a:t>Техническое обслуживание и мониторинг состояния.</a:t>
            </a:r>
          </a:p>
          <a:p>
            <a:r>
              <a:rPr lang="ru-RU" dirty="0"/>
              <a:t>Возврат и расчёт (осмотр, выявление повреждений, итоговый чек).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DDD150C-AD3A-7911-088F-8FDA5AEF5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553065"/>
              </p:ext>
            </p:extLst>
          </p:nvPr>
        </p:nvGraphicFramePr>
        <p:xfrm>
          <a:off x="1171956" y="3931921"/>
          <a:ext cx="9848088" cy="191831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924044">
                  <a:extLst>
                    <a:ext uri="{9D8B030D-6E8A-4147-A177-3AD203B41FA5}">
                      <a16:colId xmlns:a16="http://schemas.microsoft.com/office/drawing/2014/main" val="2864165268"/>
                    </a:ext>
                  </a:extLst>
                </a:gridCol>
                <a:gridCol w="4924044">
                  <a:extLst>
                    <a:ext uri="{9D8B030D-6E8A-4147-A177-3AD203B41FA5}">
                      <a16:colId xmlns:a16="http://schemas.microsoft.com/office/drawing/2014/main" val="415297794"/>
                    </a:ext>
                  </a:extLst>
                </a:gridCol>
              </a:tblGrid>
              <a:tr h="305443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Проблема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Последствия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80971"/>
                  </a:ext>
                </a:extLst>
              </a:tr>
              <a:tr h="305443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Ошибки в паспортных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Невозможность взыскания штрафов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782175"/>
                  </a:ext>
                </a:extLst>
              </a:tr>
              <a:tr h="410515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Двойное бронирование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Потеря клиентов, репутационные риски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687521"/>
                  </a:ext>
                </a:extLst>
              </a:tr>
              <a:tr h="410515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Несвоевременное обновление статуса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Выдача неисправного скутера, потеря техники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397177"/>
                  </a:ext>
                </a:extLst>
              </a:tr>
              <a:tr h="305443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Ручной сбор отчётов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Задержка управленческих решений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05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4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E8DC9-13E3-B4FB-D31E-4135834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8" y="187452"/>
            <a:ext cx="7729728" cy="1188720"/>
          </a:xfrm>
        </p:spPr>
        <p:txBody>
          <a:bodyPr>
            <a:normAutofit/>
          </a:bodyPr>
          <a:lstStyle/>
          <a:p>
            <a:r>
              <a:rPr lang="ru-RU" b="1" dirty="0"/>
              <a:t>Проектирование системы: структура метаданных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DB9B74-8317-CB59-EEF7-B7E7C1025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128" y="1568196"/>
            <a:ext cx="2624328" cy="3101983"/>
          </a:xfrm>
        </p:spPr>
        <p:txBody>
          <a:bodyPr/>
          <a:lstStyle/>
          <a:p>
            <a:r>
              <a:rPr lang="ru-RU" b="1" dirty="0"/>
              <a:t>Справочники</a:t>
            </a:r>
          </a:p>
          <a:p>
            <a:pPr lvl="1"/>
            <a:r>
              <a:rPr lang="ru-RU" dirty="0" err="1"/>
              <a:t>ТочкиПроката</a:t>
            </a:r>
            <a:endParaRPr lang="ru-RU" dirty="0"/>
          </a:p>
          <a:p>
            <a:pPr lvl="1"/>
            <a:r>
              <a:rPr lang="ru-RU" dirty="0"/>
              <a:t>Тарифы</a:t>
            </a:r>
          </a:p>
          <a:p>
            <a:pPr lvl="1"/>
            <a:r>
              <a:rPr lang="ru-RU" dirty="0"/>
              <a:t>Скутеры</a:t>
            </a:r>
          </a:p>
          <a:p>
            <a:pPr lvl="1"/>
            <a:r>
              <a:rPr lang="ru-RU" dirty="0"/>
              <a:t>Клиенты</a:t>
            </a:r>
          </a:p>
          <a:p>
            <a:pPr lvl="1"/>
            <a:r>
              <a:rPr lang="ru-RU" dirty="0"/>
              <a:t>Сотрудники</a:t>
            </a:r>
          </a:p>
          <a:p>
            <a:pPr lvl="1"/>
            <a:r>
              <a:rPr lang="ru-RU" dirty="0" err="1"/>
              <a:t>СтатусыСкутеров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1E94CC4-A43E-15BB-8719-0ECD8A38BD8D}"/>
              </a:ext>
            </a:extLst>
          </p:cNvPr>
          <p:cNvSpPr txBox="1">
            <a:spLocks/>
          </p:cNvSpPr>
          <p:nvPr/>
        </p:nvSpPr>
        <p:spPr>
          <a:xfrm>
            <a:off x="4956048" y="1568195"/>
            <a:ext cx="7235952" cy="1860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Документы</a:t>
            </a:r>
          </a:p>
          <a:p>
            <a:pPr lvl="1"/>
            <a:r>
              <a:rPr lang="ru-RU" dirty="0"/>
              <a:t>«</a:t>
            </a:r>
            <a:r>
              <a:rPr lang="ru-RU" dirty="0" err="1"/>
              <a:t>ДоговорАренды</a:t>
            </a:r>
            <a:r>
              <a:rPr lang="ru-RU" dirty="0"/>
              <a:t>» (фиксация аренды, расчёт суммы, изменение статуса)</a:t>
            </a:r>
          </a:p>
          <a:p>
            <a:pPr lvl="1"/>
            <a:r>
              <a:rPr lang="ru-RU" dirty="0"/>
              <a:t>«Продажа» (вводится на основании договора при выкупе)</a:t>
            </a:r>
          </a:p>
          <a:p>
            <a:pPr lvl="1"/>
            <a:r>
              <a:rPr lang="ru-RU" dirty="0"/>
              <a:t>«Оплата» (фиксация поступления денег в кассу/на счёт)</a:t>
            </a:r>
            <a:endParaRPr lang="ru-RU" b="1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A57FD32-5167-ECA0-F2B9-DA1B902FCC9A}"/>
              </a:ext>
            </a:extLst>
          </p:cNvPr>
          <p:cNvSpPr txBox="1">
            <a:spLocks/>
          </p:cNvSpPr>
          <p:nvPr/>
        </p:nvSpPr>
        <p:spPr>
          <a:xfrm>
            <a:off x="2414016" y="4359401"/>
            <a:ext cx="7235952" cy="1860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Регистры</a:t>
            </a:r>
          </a:p>
          <a:p>
            <a:pPr lvl="1"/>
            <a:r>
              <a:rPr lang="ru-RU" dirty="0"/>
              <a:t>«Цены» (периодический, цена тарифа на дату)</a:t>
            </a:r>
          </a:p>
          <a:p>
            <a:pPr lvl="1"/>
            <a:r>
              <a:rPr lang="ru-RU" dirty="0"/>
              <a:t>«</a:t>
            </a:r>
            <a:r>
              <a:rPr lang="ru-RU" dirty="0" err="1"/>
              <a:t>ИсторияДоговоров</a:t>
            </a:r>
            <a:r>
              <a:rPr lang="ru-RU" dirty="0"/>
              <a:t>» (подчинённый регистратору)</a:t>
            </a:r>
          </a:p>
          <a:p>
            <a:pPr lvl="1"/>
            <a:r>
              <a:rPr lang="ru-RU" dirty="0"/>
              <a:t>«Продажи» (оборотный, анализ выручки)</a:t>
            </a:r>
          </a:p>
          <a:p>
            <a:pPr lvl="1"/>
            <a:r>
              <a:rPr lang="ru-RU" dirty="0"/>
              <a:t>«Финансы» (остатки наличных и безналичных средств)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5909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9F57DC-7A09-F1A9-221E-9E6EC400C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73" y="182880"/>
            <a:ext cx="9060854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4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A009B8-C061-FE6A-CED1-1AD0949A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41732"/>
            <a:ext cx="7729728" cy="1188720"/>
          </a:xfrm>
        </p:spPr>
        <p:txBody>
          <a:bodyPr/>
          <a:lstStyle/>
          <a:p>
            <a:r>
              <a:rPr lang="ru-RU" b="1"/>
              <a:t>Реализация: пользовательский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746996-B44B-3A61-40FB-A3DB41E50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41932"/>
            <a:ext cx="7729728" cy="3101983"/>
          </a:xfrm>
        </p:spPr>
        <p:txBody>
          <a:bodyPr/>
          <a:lstStyle/>
          <a:p>
            <a:r>
              <a:rPr lang="ru-RU" b="1" dirty="0"/>
              <a:t>Стартовая страница</a:t>
            </a:r>
            <a:r>
              <a:rPr lang="ru-RU" dirty="0"/>
              <a:t> – обработка «Журнал записей»:</a:t>
            </a:r>
          </a:p>
          <a:p>
            <a:pPr lvl="1"/>
            <a:r>
              <a:rPr lang="ru-RU" dirty="0"/>
              <a:t>Два режима: </a:t>
            </a:r>
            <a:r>
              <a:rPr lang="ru-RU" b="1" dirty="0"/>
              <a:t>Календарь (планировщик)</a:t>
            </a:r>
            <a:r>
              <a:rPr lang="ru-RU" dirty="0"/>
              <a:t> и </a:t>
            </a:r>
            <a:r>
              <a:rPr lang="ru-RU" b="1" dirty="0"/>
              <a:t>Список</a:t>
            </a:r>
            <a:endParaRPr lang="ru-RU" dirty="0"/>
          </a:p>
          <a:p>
            <a:pPr lvl="1"/>
            <a:r>
              <a:rPr lang="ru-RU" dirty="0"/>
              <a:t>Календарь показывает занятость скутеров на выбранной точке по времени</a:t>
            </a:r>
          </a:p>
          <a:p>
            <a:r>
              <a:rPr lang="ru-RU" b="1" dirty="0"/>
              <a:t>Ключевые возможности:</a:t>
            </a:r>
            <a:endParaRPr lang="ru-RU" dirty="0"/>
          </a:p>
          <a:p>
            <a:pPr lvl="1"/>
            <a:r>
              <a:rPr lang="ru-RU" dirty="0"/>
              <a:t>Двойной клик по блоку - редактирование договора</a:t>
            </a:r>
          </a:p>
          <a:p>
            <a:pPr lvl="1"/>
            <a:r>
              <a:rPr lang="ru-RU" dirty="0"/>
              <a:t>Перетаскивание блока - изменение времени аренды с автоматическим сохранением.</a:t>
            </a:r>
          </a:p>
          <a:p>
            <a:pPr lvl="1"/>
            <a:r>
              <a:rPr lang="ru-RU" dirty="0"/>
              <a:t>Создание договора через свободную область календаря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693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A99A8A-39B5-24F5-73F5-C64B09534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25" b="4796"/>
          <a:stretch>
            <a:fillRect/>
          </a:stretch>
        </p:blipFill>
        <p:spPr>
          <a:xfrm>
            <a:off x="109728" y="118872"/>
            <a:ext cx="5586984" cy="299521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AAC2C2-9215-8FED-C5EC-E15201470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288" y="112433"/>
            <a:ext cx="5586984" cy="30016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6756B6-01E9-93AA-A805-F9429D439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796" y="3615123"/>
            <a:ext cx="5586984" cy="299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9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28AC5-4F8C-C8F4-A59B-4CA5114E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7180"/>
            <a:ext cx="7729728" cy="1188720"/>
          </a:xfrm>
        </p:spPr>
        <p:txBody>
          <a:bodyPr>
            <a:normAutofit/>
          </a:bodyPr>
          <a:lstStyle/>
          <a:p>
            <a:r>
              <a:rPr lang="ru-RU" b="1" dirty="0"/>
              <a:t>Реализация: Навигация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F7D569-3A77-857E-F0E7-533BAFC24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878009"/>
            <a:ext cx="7729728" cy="865192"/>
          </a:xfrm>
        </p:spPr>
        <p:txBody>
          <a:bodyPr/>
          <a:lstStyle/>
          <a:p>
            <a:r>
              <a:rPr lang="ru-RU" b="1" dirty="0"/>
              <a:t>Панель вкладок:</a:t>
            </a:r>
          </a:p>
          <a:p>
            <a:pPr lvl="1"/>
            <a:r>
              <a:rPr lang="ru-RU" dirty="0"/>
              <a:t>быстрый переход между открытыми окнами и разделами.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BBFBBF-32CF-CD86-D49E-C9C247171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948940"/>
            <a:ext cx="1445739" cy="36118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D6240F-5CA4-5120-5CD3-2B3C5700A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125" y="2948940"/>
            <a:ext cx="1445739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8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F8E49-CE6D-94E3-45F6-925B29331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8892"/>
            <a:ext cx="7729728" cy="1188720"/>
          </a:xfrm>
        </p:spPr>
        <p:txBody>
          <a:bodyPr/>
          <a:lstStyle/>
          <a:p>
            <a:r>
              <a:rPr lang="ru-RU" b="1" dirty="0"/>
              <a:t>Система отчётности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5EF9B4-1E50-1DA9-8DCC-FA09C13FE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56809"/>
            <a:ext cx="7729728" cy="1935040"/>
          </a:xfrm>
        </p:spPr>
        <p:txBody>
          <a:bodyPr/>
          <a:lstStyle/>
          <a:p>
            <a:r>
              <a:rPr lang="ru-RU" b="1" dirty="0"/>
              <a:t>Отчёт «Продажи»</a:t>
            </a:r>
            <a:r>
              <a:rPr lang="ru-RU" dirty="0"/>
              <a:t> (на базе регистра «Продажи»):</a:t>
            </a:r>
          </a:p>
          <a:p>
            <a:pPr lvl="1"/>
            <a:r>
              <a:rPr lang="ru-RU" dirty="0"/>
              <a:t>Анализ выручки в разрезе клиентов</a:t>
            </a:r>
          </a:p>
          <a:p>
            <a:pPr lvl="1"/>
            <a:r>
              <a:rPr lang="ru-RU" dirty="0"/>
              <a:t>Анализ выручки по тарифам.</a:t>
            </a:r>
          </a:p>
          <a:p>
            <a:r>
              <a:rPr lang="ru-RU" b="1" dirty="0"/>
              <a:t>Отчёт «Финансы»</a:t>
            </a:r>
            <a:r>
              <a:rPr lang="ru-RU" dirty="0"/>
              <a:t> (на базе регистра «Финансы»):</a:t>
            </a:r>
          </a:p>
          <a:p>
            <a:pPr lvl="1"/>
            <a:r>
              <a:rPr lang="ru-RU" dirty="0"/>
              <a:t>Отображение остатков наличных и безналичных средств.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12586A-A6E5-B3FC-93C0-E2C31F93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87" y="3722364"/>
            <a:ext cx="3538298" cy="29576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775272-D1DD-3E6D-F65A-2483D3058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213" y="3721623"/>
            <a:ext cx="3747301" cy="295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D79D4-4333-6D3D-E752-7CE3B782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24028"/>
            <a:ext cx="7729728" cy="1188720"/>
          </a:xfrm>
        </p:spPr>
        <p:txBody>
          <a:bodyPr/>
          <a:lstStyle/>
          <a:p>
            <a:r>
              <a:rPr lang="ru-RU" b="1" dirty="0"/>
              <a:t>Функциональное тестирование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AEFF1B-792A-FAB6-C0D0-44757C712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96796"/>
            <a:ext cx="7729728" cy="327812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Разработано 8 тест-кейсов</a:t>
            </a:r>
            <a:r>
              <a:rPr lang="ru-RU" dirty="0"/>
              <a:t>, покрывающих полный цикл работы:</a:t>
            </a:r>
          </a:p>
          <a:p>
            <a:pPr lvl="1"/>
            <a:r>
              <a:rPr lang="ru-RU" dirty="0"/>
              <a:t>Создание скутера в справочнике</a:t>
            </a:r>
          </a:p>
          <a:p>
            <a:pPr lvl="1"/>
            <a:r>
              <a:rPr lang="ru-RU" dirty="0"/>
              <a:t>Оформление договора аренды на свободный скутер</a:t>
            </a:r>
          </a:p>
          <a:p>
            <a:pPr lvl="1"/>
            <a:r>
              <a:rPr lang="ru-RU" dirty="0"/>
              <a:t>Создание документа «Продажа» на основании договора</a:t>
            </a:r>
          </a:p>
          <a:p>
            <a:pPr lvl="1"/>
            <a:r>
              <a:rPr lang="ru-RU" dirty="0"/>
              <a:t>Регистрация оплаты (наличные/карта)</a:t>
            </a:r>
          </a:p>
          <a:p>
            <a:pPr lvl="1"/>
            <a:r>
              <a:rPr lang="ru-RU" dirty="0"/>
              <a:t>Формирование отчёта «Продажи»</a:t>
            </a:r>
          </a:p>
          <a:p>
            <a:pPr lvl="1"/>
            <a:r>
              <a:rPr lang="ru-RU" dirty="0"/>
              <a:t>Формирование отчёта «Финансы»</a:t>
            </a:r>
          </a:p>
          <a:p>
            <a:pPr lvl="1"/>
            <a:r>
              <a:rPr lang="ru-RU" dirty="0"/>
              <a:t>Редактирование времени аренды через календарь</a:t>
            </a:r>
          </a:p>
          <a:p>
            <a:r>
              <a:rPr lang="ru-RU" b="1" dirty="0"/>
              <a:t>Результат:</a:t>
            </a:r>
          </a:p>
          <a:p>
            <a:pPr lvl="1"/>
            <a:r>
              <a:rPr lang="ru-RU" dirty="0"/>
              <a:t>Все тест-кейсы пройдены успешно, система работает стабильно</a:t>
            </a:r>
          </a:p>
        </p:txBody>
      </p:sp>
    </p:spTree>
    <p:extLst>
      <p:ext uri="{BB962C8B-B14F-4D97-AF65-F5344CB8AC3E}">
        <p14:creationId xmlns:p14="http://schemas.microsoft.com/office/powerpoint/2010/main" val="1586098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18A10-6BC8-4225-07AB-A6C0AAE5B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3756"/>
            <a:ext cx="7729728" cy="1188720"/>
          </a:xfrm>
        </p:spPr>
        <p:txBody>
          <a:bodyPr>
            <a:normAutofit/>
          </a:bodyPr>
          <a:lstStyle/>
          <a:p>
            <a:r>
              <a:rPr lang="ru-RU" b="1" dirty="0"/>
              <a:t>Выявленные ограничения и направления развития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D0F4F2-1AFE-9C57-2982-AEAE872D6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79676"/>
            <a:ext cx="7729728" cy="3982212"/>
          </a:xfrm>
        </p:spPr>
        <p:txBody>
          <a:bodyPr>
            <a:normAutofit/>
          </a:bodyPr>
          <a:lstStyle/>
          <a:p>
            <a:r>
              <a:rPr lang="ru-RU" b="1" dirty="0"/>
              <a:t>Текущие ограничения:</a:t>
            </a:r>
            <a:endParaRPr lang="ru-RU" dirty="0"/>
          </a:p>
          <a:p>
            <a:pPr lvl="1"/>
            <a:r>
              <a:rPr lang="ru-RU" dirty="0"/>
              <a:t>Статус скутера после оформления договора не меняется автоматически (требуется ручная установка из-за произвольного справочника статусов)</a:t>
            </a:r>
          </a:p>
          <a:p>
            <a:r>
              <a:rPr lang="ru-RU" b="1" dirty="0"/>
              <a:t>Перспективы доработки:</a:t>
            </a:r>
            <a:endParaRPr lang="ru-RU" dirty="0"/>
          </a:p>
          <a:p>
            <a:pPr lvl="1"/>
            <a:r>
              <a:rPr lang="ru-RU" dirty="0"/>
              <a:t>Автоматизация управления статусами скутеров</a:t>
            </a:r>
          </a:p>
          <a:p>
            <a:pPr lvl="1"/>
            <a:r>
              <a:rPr lang="ru-RU" dirty="0"/>
              <a:t>Интеграция с онлайн-кассами </a:t>
            </a:r>
          </a:p>
          <a:p>
            <a:pPr lvl="1"/>
            <a:r>
              <a:rPr lang="ru-RU" dirty="0"/>
              <a:t>Разработка мобильного приложения для клиентов</a:t>
            </a:r>
          </a:p>
          <a:p>
            <a:pPr lvl="1"/>
            <a:r>
              <a:rPr lang="ru-RU" dirty="0"/>
              <a:t>Подключение GPS-трекеров для автоматической фиксации времени и места возврата</a:t>
            </a:r>
          </a:p>
          <a:p>
            <a:pPr lvl="1"/>
            <a:r>
              <a:rPr lang="ru-RU" dirty="0"/>
              <a:t>Расширенная аналитика (рентабельность каждой единицы, загрузка по часам)</a:t>
            </a:r>
          </a:p>
          <a:p>
            <a:pPr lvl="1"/>
            <a:r>
              <a:rPr lang="ru-RU" dirty="0"/>
              <a:t>Интеграция всей отчётности и бизнес процессов (выплата налогов, зарплат)</a:t>
            </a:r>
          </a:p>
          <a:p>
            <a:pPr marL="2286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325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8AEFF-A3D1-2E23-F31F-6679F0ED1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4613"/>
            <a:ext cx="8991600" cy="1008971"/>
          </a:xfrm>
        </p:spPr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081E3B-CDCD-F79E-6655-7D000119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1243584"/>
            <a:ext cx="8991600" cy="5614416"/>
          </a:xfrm>
        </p:spPr>
        <p:txBody>
          <a:bodyPr>
            <a:normAutofit/>
          </a:bodyPr>
          <a:lstStyle/>
          <a:p>
            <a:r>
              <a:rPr lang="ru-RU" b="1" dirty="0"/>
              <a:t>Цель достигнута: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Создан работоспособный прототип информационной системы «Прокат скутеров» на платформе 1С:Предприятие 8</a:t>
            </a:r>
          </a:p>
          <a:p>
            <a:r>
              <a:rPr lang="ru-RU" b="1" dirty="0"/>
              <a:t>Реализовано: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Ведение справочников, оформление договоров аренды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Автоматический расчёт стоимости по тарифу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Учёт продаж и денежных средств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Визуальное планирование загрузки в календаре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Аналитическая отчётность для руководителя</a:t>
            </a:r>
          </a:p>
          <a:p>
            <a:r>
              <a:rPr lang="ru-RU" b="1" dirty="0"/>
              <a:t>Подтверждена гипотеза: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Переход на 1С устраняет ручные ошибки, обеспечивает единое информационное пространство и повышает оперативность управления.</a:t>
            </a:r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9493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D71EE-CF50-34C5-75EE-8A2F5402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" y="100584"/>
            <a:ext cx="11996928" cy="6656832"/>
          </a:xfrm>
        </p:spPr>
        <p:txBody>
          <a:bodyPr/>
          <a:lstStyle/>
          <a:p>
            <a:r>
              <a:rPr lang="ru-RU" dirty="0"/>
              <a:t>Конец</a:t>
            </a:r>
          </a:p>
        </p:txBody>
      </p:sp>
    </p:spTree>
    <p:extLst>
      <p:ext uri="{BB962C8B-B14F-4D97-AF65-F5344CB8AC3E}">
        <p14:creationId xmlns:p14="http://schemas.microsoft.com/office/powerpoint/2010/main" val="589515587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57</TotalTime>
  <Words>617</Words>
  <Application>Microsoft Office PowerPoint</Application>
  <PresentationFormat>Широкоэкранный</PresentationFormat>
  <Paragraphs>101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Corbel</vt:lpstr>
      <vt:lpstr>Gill Sans MT</vt:lpstr>
      <vt:lpstr>Посылка</vt:lpstr>
      <vt:lpstr>Разработка информационной системы «Прокат скутеров»</vt:lpstr>
      <vt:lpstr>Рынок микромобильности в РФ растёт</vt:lpstr>
      <vt:lpstr>Цель и задачи исследования</vt:lpstr>
      <vt:lpstr>Анализ бизнес-процессов проката</vt:lpstr>
      <vt:lpstr>Проектирование системы: структура метаданных</vt:lpstr>
      <vt:lpstr>Презентация PowerPoint</vt:lpstr>
      <vt:lpstr>Реализация: пользовательский интерфейс</vt:lpstr>
      <vt:lpstr>Презентация PowerPoint</vt:lpstr>
      <vt:lpstr>Реализация: Навигация</vt:lpstr>
      <vt:lpstr>Система отчётности</vt:lpstr>
      <vt:lpstr>Функциональное тестирование</vt:lpstr>
      <vt:lpstr>Выявленные ограничения и направления развития</vt:lpstr>
      <vt:lpstr>Заключение</vt:lpstr>
      <vt:lpstr>Конец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Антон Гилёв</dc:creator>
  <cp:lastModifiedBy>Антон Гилёв</cp:lastModifiedBy>
  <cp:revision>2</cp:revision>
  <dcterms:created xsi:type="dcterms:W3CDTF">2026-04-17T07:06:50Z</dcterms:created>
  <dcterms:modified xsi:type="dcterms:W3CDTF">2026-04-17T08:03:54Z</dcterms:modified>
</cp:coreProperties>
</file>